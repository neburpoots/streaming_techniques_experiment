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1295C"/>
                </a:solidFill>
                <a:latin typeface="Arial"/>
              </a:rPr>
              <a:t>Clean-matrix avg throughput (msg/s)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msg/s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Client-streaming</c:v>
                  </c:pt>
                  <c:pt idx="1">
                    <c:v>NATS JetStream</c:v>
                  </c:pt>
                  <c:pt idx="2">
                    <c:v>RabbitMQ Streams</c:v>
                  </c:pt>
                  <c:pt idx="3">
                    <c:v>Kafka</c:v>
                  </c:pt>
                  <c:pt idx="4">
                    <c:v>Unary gRPC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31260</c:v>
                </c:pt>
                <c:pt idx="1">
                  <c:v>13116</c:v>
                </c:pt>
                <c:pt idx="2">
                  <c:v>9111</c:v>
                </c:pt>
                <c:pt idx="3">
                  <c:v>7354</c:v>
                </c:pt>
                <c:pt idx="4">
                  <c:v>2291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1295C"/>
                </a:solidFill>
                <a:latin typeface="Arial"/>
              </a:rPr>
              <a:t>End-to-end completion time (lower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Done (s)</c:v>
                </c:pt>
              </c:strCache>
            </c:strRef>
          </c:tx>
          <c:spPr>
            <a:solidFill>
              <a:srgbClr val="8B8B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8B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Classic-unary
(baseline)</c:v>
                  </c:pt>
                  <c:pt idx="1">
                    <c:v>Unary batched</c:v>
                  </c:pt>
                  <c:pt idx="2">
                    <c:v>Streaming gRPC</c:v>
                  </c:pt>
                  <c:pt idx="3">
                    <c:v>RabbitMQ Streams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6.79</c:v>
                </c:pt>
                <c:pt idx="1">
                  <c:v>4.2</c:v>
                </c:pt>
                <c:pt idx="2">
                  <c:v>4.26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4748B"/>
                    </a:solidFill>
                    <a:latin typeface="Arial"/>
                  </a:rPr>
                  <a:t>seconds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Communication for Scalable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Exchange in DYNAMOS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097280" cy="0"/>
          </a:xfrm>
          <a:prstGeom prst="line">
            <a:avLst/>
          </a:prstGeom>
          <a:noFill/>
          <a:ln w="25400">
            <a:solidFill>
              <a:srgbClr val="FF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Progress Presentation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Ruben Stoop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069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Cyber-Infrastructure (CCI)  ·  University of Amsterdam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DYNAMOS — and what is the gap?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Policy-driven data exchange middleware developed at UvA's CCI group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931920" cy="3017520"/>
          </a:xfrm>
          <a:prstGeom prst="rect">
            <a:avLst/>
          </a:prstGeom>
          <a:solidFill>
            <a:srgbClr val="EAF4F7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DYNAMOS today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Inter-organisation data exchange under policy constraints (healthcare, research, public sector)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microservice composition: ephemeral Kubernetes jobs spun up per request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archetypes today: </a:t>
            </a:r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computeToData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(chain runs at provider) and </a:t>
            </a:r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dataThroughTtp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(data moves to a trusted third party)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 pattern abstracts communication; RabbitMQ for control plane, gRPC unary for data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I'm addressing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937760" y="178308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inter-service hop is atomic request–response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datasets buffered before being sent — memory pressure, idle time, cold-start dominates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incremental processing or pipelining between stages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Stutterheim's original thesis explicitly flags streaming as future work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44348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streaming communication into DYNAMOS while preserving policy compliance, dynamic composition, and isolation guarantees.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138160" cy="7772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058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RQ —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streaming communication be integrated into a dynamically adaptive, policy-driven microservice-based data exchange middleware such as DYNAMOS, while preserving compliance guarantees and improving scalability and performance?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2743200" cy="2606040"/>
          </a:xfrm>
          <a:prstGeom prst="rect">
            <a:avLst/>
          </a:prstGeom>
          <a:solidFill>
            <a:srgbClr val="EAF4F7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94560"/>
            <a:ext cx="59436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945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7249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techniques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1089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streaming technologies, frameworks, and interaction patterns are suitable for large-scale and continuous data exchange in microservice-based systems such as DYNAMOS?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done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2011680"/>
            <a:ext cx="2743200" cy="2606040"/>
          </a:xfrm>
          <a:prstGeom prst="rect">
            <a:avLst/>
          </a:prstGeom>
          <a:solidFill>
            <a:srgbClr val="EAF4F7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2194560"/>
            <a:ext cx="59436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1945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27249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integration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31089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streaming be integrated in a way that preserves dynamic service composition, policy-driven orchestration, and isolation guarantees?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66160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implemented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011680"/>
            <a:ext cx="2743200" cy="2606040"/>
          </a:xfrm>
          <a:prstGeom prst="rect">
            <a:avLst/>
          </a:prstGeom>
          <a:solidFill>
            <a:srgbClr val="EAF4F7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194560"/>
            <a:ext cx="59436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1945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27249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evaluation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31089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impact on scalability, performance, and robustness compared to a traditional request–response approach under realistic workloads?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46520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— Candidate streaming techniques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transports compared in a controlled benchmark (one baseline, four streaming candidates)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91440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43000"/>
            <a:ext cx="804672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16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 gRPC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472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29000" y="12344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request–response; the current DYNAMOS communication model.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9144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874520"/>
            <a:ext cx="8046720" cy="640080"/>
          </a:xfrm>
          <a:prstGeom prst="rect">
            <a:avLst/>
          </a:prstGeom>
          <a:solidFill>
            <a:srgbClr val="EAF4F7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947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Client-streaming gRPC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2037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streaming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29000" y="196596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 RPC; sender pushes chunks. Lowest protocol overhead.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606040"/>
            <a:ext cx="9144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606040"/>
            <a:ext cx="8046720" cy="640080"/>
          </a:xfrm>
          <a:prstGeom prst="rect">
            <a:avLst/>
          </a:prstGeom>
          <a:solidFill>
            <a:srgbClr val="EAF4F7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679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Streams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29352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Brokered streaming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9000" y="269748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log on top of RabbitMQ. Durable, replayable, decoupled.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337560"/>
            <a:ext cx="9144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337560"/>
            <a:ext cx="8046720" cy="640080"/>
          </a:xfrm>
          <a:prstGeom prst="rect">
            <a:avLst/>
          </a:prstGeom>
          <a:solidFill>
            <a:srgbClr val="EAF4F7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410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NATS JetStream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36667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Brokered streaming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29000" y="34290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broker with persistence, replay, pull consumers.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069080"/>
            <a:ext cx="9144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4069080"/>
            <a:ext cx="8046720" cy="640080"/>
          </a:xfrm>
          <a:prstGeom prst="rect">
            <a:avLst/>
          </a:prstGeom>
          <a:solidFill>
            <a:srgbClr val="EAF4F7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142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43982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Brokered streaming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29000" y="416052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partitioned log; mature ecosystem; strong correctness.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 pipeline, same payloads, swap the transport — single-node Kubernetes (primary), 3-broker clustered (exploratory)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20440" y="118872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1887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26480" y="118872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1887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33472" y="1577340"/>
            <a:ext cx="813816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239512" y="1577340"/>
            <a:ext cx="813816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under test (one of: client-streaming gRPC · unary gRPC · RabbitMQ Streams · NATS JetStream · Kafka)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651760"/>
            <a:ext cx="2103120" cy="1097280"/>
          </a:xfrm>
          <a:prstGeom prst="rect">
            <a:avLst/>
          </a:prstGeom>
          <a:solidFill>
            <a:srgbClr val="EAF4F7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74320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bulk-transfer matrix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" y="310896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256 B – 16 KiB × concurrency 1–16. Sustained throughput baseline.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97480" y="2651760"/>
            <a:ext cx="2103120" cy="1097280"/>
          </a:xfrm>
          <a:prstGeom prst="rect">
            <a:avLst/>
          </a:prstGeom>
          <a:solidFill>
            <a:srgbClr val="EAF4F7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07208" y="274320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steady-rate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07208" y="310896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KiB at 1 000 msg/s. Pacing stability, jitter, inter-arrival regularity.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2651760"/>
            <a:ext cx="2103120" cy="1097280"/>
          </a:xfrm>
          <a:prstGeom prst="rect">
            <a:avLst/>
          </a:prstGeom>
          <a:solidFill>
            <a:srgbClr val="EAF4F7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01768" y="274320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Slow-consumer backpressure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01768" y="310896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4 000 msg/s target with 2 ms sink delay. Queueing behaviour, overload handling.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86600" y="2651760"/>
            <a:ext cx="2103120" cy="1097280"/>
          </a:xfrm>
          <a:prstGeom prst="rect">
            <a:avLst/>
          </a:prstGeom>
          <a:solidFill>
            <a:srgbClr val="EAF4F7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96328" y="274320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Forced-restart recovery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96328" y="310896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transformer at t = 3 s. Duplicates, ordering, time to first message.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— Key findings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Single-node results, averaged across the clean-matrix configurations (selected highlights)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188720"/>
          <a:ext cx="44348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166360" y="1188720"/>
            <a:ext cx="3611880" cy="3337560"/>
          </a:xfrm>
          <a:prstGeom prst="rect">
            <a:avLst/>
          </a:prstGeom>
          <a:solidFill>
            <a:srgbClr val="EAF4F7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49240" y="1325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49240" y="1691640"/>
            <a:ext cx="32461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Client-streaming gRPC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highest sustained throughput, most stable pacing, but no built-in durable replay.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NATS JetStream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strongest brokered throughput once tuned; occasional ordering violations on recovery.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Streams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stable under clean load; tail latency grows sharply under backpressure.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strongest recovery correctness (duplicate-free, ordering-violation-free) at the cost of heavy tail latency.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 gRPC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predictable, low latency for small payloads; collapses on bulk transfer.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" y="46405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winner across all dimensions — choice is a trade-off, not a ranking.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RQ1 → DYNAMOS — a hybrid by boundary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communication boundary in DYNAMOS has its own right answer; no single transport wins everywhere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91440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43000"/>
            <a:ext cx="8046720" cy="868680"/>
          </a:xfrm>
          <a:prstGeom prst="rect">
            <a:avLst/>
          </a:prstGeom>
          <a:solidFill>
            <a:srgbClr val="EAF4F7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Intra-pod (microservice → microservice)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15361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gRPC; lowest overhead; pipelining inside the chain.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89320" y="132588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325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 streaming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176272"/>
            <a:ext cx="91440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176272"/>
            <a:ext cx="8046720" cy="868680"/>
          </a:xfrm>
          <a:prstGeom prst="rect">
            <a:avLst/>
          </a:prstGeom>
          <a:solidFill>
            <a:srgbClr val="EAF4F7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2677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Inter-agent (data provider → TTP / requester)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25694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brokered, decoupled model; durability, replay, no new infra.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2359152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23591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Streams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209544"/>
            <a:ext cx="91440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209544"/>
            <a:ext cx="8046720" cy="868680"/>
          </a:xfrm>
          <a:prstGeom prst="rect">
            <a:avLst/>
          </a:prstGeom>
          <a:solidFill>
            <a:srgbClr val="EAF4F7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3009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→ API gateway → user (HTTP)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360273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partial results to the user without changing the transport layer.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89320" y="3392424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339242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NDJSON chunked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45491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Kafka or NATS as primary inter-agent transport?  </a:t>
            </a:r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operational footprint, mismatch with DYNAMOS's ephemeral single-use jobs, no fit with the existing brokered architecture.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— Integration into DYNAMOS (MVP)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feature/streaming branch; per-request transport flag drives the whole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3931920" cy="3520440"/>
          </a:xfrm>
          <a:prstGeom prst="rect">
            <a:avLst/>
          </a:prstGeom>
          <a:solidFill>
            <a:srgbClr val="EAF4F7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flag propagated end-to-end: API gateway → policy enforcer → orchestrator → agent → sidecar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 dispatches at the message level: unary AMQP, gRPC client-streaming, or RabbitMQ Streams (with publish-confirmation tracking and message-id disambiguation)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pipelining inside the pod: sql-query emits row batches; anonymize / aggregate / algorithm process incrementally for the average algorithm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NDJSON end-to-end at the HTTP layer when the client opts in (early partial results visible to the user)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3931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 DYNAMOS properties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microservice composition is unchanged — chains are still generated per request from the orchestrator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Ephemeral, single-use Kubernetes jobs continue to work — broker-buffered transport tolerates cold-start gaps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enforcement scope unchanged — transport is a request option; doesn't widen the trust boundary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 pattern preserved — communication concerns stay separate from business microservices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RQ3 — MVP vs baseline DYNAMOS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dataThroughTtp retrieval at 50 000 rows, single provider (UVA), warm steady-state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188720"/>
          <a:ext cx="48463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188720"/>
            <a:ext cx="3200400" cy="3246120"/>
          </a:xfrm>
          <a:prstGeom prst="rect">
            <a:avLst/>
          </a:prstGeom>
          <a:solidFill>
            <a:srgbClr val="EAF4F7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60720" y="1325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observations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760720" y="1691640"/>
            <a:ext cx="2834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is the dominant win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~38% faster than the unmodified baseline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difference is small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unary-batched ≈ streaming-batched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Streams pays a predictable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overhead — durability &amp; decoupling have a cost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Time-to-first-result halved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~3.2s vs single 6.8s response for the baseline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issues and what they reveal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that are themselves part of the RQ3 story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8138160" cy="1051560"/>
          </a:xfrm>
          <a:prstGeom prst="rect">
            <a:avLst/>
          </a:prstGeom>
          <a:solidFill>
            <a:srgbClr val="EAF4F7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43000"/>
            <a:ext cx="91440" cy="105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52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250 000-row bulk crash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156362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Non-average bulk still buffers in the aggregate stage and is rebuilt as one full JSON table in the algorithm stage. Hits the hard NDJSON 20-min and classic-unary 30-s deadlines.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0" y="146304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1463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8138160" cy="1051560"/>
          </a:xfrm>
          <a:prstGeom prst="rect">
            <a:avLst/>
          </a:prstGeom>
          <a:solidFill>
            <a:srgbClr val="EAF4F7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331720"/>
            <a:ext cx="91440" cy="105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4414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Column-order nondeterminism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275234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convertAllData iterates a Go map, so column order in the final result drifts per transport. Same rows, different schema order — correctness issue, not transport issue.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0" y="265176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2651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520440"/>
            <a:ext cx="8138160" cy="1051560"/>
          </a:xfrm>
          <a:prstGeom prst="rect">
            <a:avLst/>
          </a:prstGeom>
          <a:solidFill>
            <a:srgbClr val="EAF4F7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520440"/>
            <a:ext cx="91440" cy="105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6301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wins ≈ batching wins, for now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394106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 chain is fully pipelined for all algorithms, the inter-agent transport choice is dominated by whether anything streams at all — not by which transport does the streaming.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0" y="384048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3840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month — RQ3 build-out + thesis writing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concrete deliverables before submission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4114800" cy="1600200"/>
          </a:xfrm>
          <a:prstGeom prst="rect">
            <a:avLst/>
          </a:prstGeom>
          <a:solidFill>
            <a:srgbClr val="EAF4F7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end-to-end pipelining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non-average bulk truly streaming through the whole chain. Remove the aggregate-stage buffer. Reproduce 250k cleanly.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1600200"/>
          </a:xfrm>
          <a:prstGeom prst="rect">
            <a:avLst/>
          </a:prstGeom>
          <a:solidFill>
            <a:srgbClr val="EAF4F7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32588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32120" y="1325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RQ3 evaluation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archetypes × multiple payload sizes × cold/warm. Add concurrent-request scalability. Failure-injection for the durability story.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880360"/>
            <a:ext cx="4114800" cy="1600200"/>
          </a:xfrm>
          <a:prstGeom prst="rect">
            <a:avLst/>
          </a:prstGeom>
          <a:solidFill>
            <a:srgbClr val="EAF4F7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scalability angle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6118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DYNAMOS's scattered directive as a local scalability lens (Fabric is out of scope per supervisor).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4114800" cy="1600200"/>
          </a:xfrm>
          <a:prstGeom prst="rect">
            <a:avLst/>
          </a:prstGeom>
          <a:solidFill>
            <a:srgbClr val="EAF4F7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306324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32120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writing &amp; RQ2/RQ3 split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6118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DYNAMOS measurements from RQ2 into RQ3. RQ2 stays the architectural integration; RQ3 owns the empirical impact.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am at the midpoint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0"/>
          </a:xfrm>
          <a:prstGeom prst="line">
            <a:avLst/>
          </a:prstGeom>
          <a:noFill/>
          <a:ln w="25400">
            <a:solidFill>
              <a:srgbClr val="FF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— Candidate evaluation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09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Done. Five transports benchmarked across four scenario families.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— Integration into DYNAMOS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implemented. Transport flag, intra-pod gRPC streaming, inter-agent RabbitMQ Streams, NDJSON end-to-end.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— Impact evaluation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4472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measurements show batching is the headline win; transport choice is a secondary trade-off. Full evaluation in progress.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4119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Streaming Communication for Scalable Data Exchange in DYNAMOS — Midterm</dc:title>
  <dc:subject>PptxGenJS Presentation</dc:subject>
  <dc:creator>Ruben Stoop</dc:creator>
  <cp:lastModifiedBy>Ruben Stoop</cp:lastModifiedBy>
  <cp:revision>1</cp:revision>
  <dcterms:created xsi:type="dcterms:W3CDTF">2026-05-28T09:24:37Z</dcterms:created>
  <dcterms:modified xsi:type="dcterms:W3CDTF">2026-05-28T09:24:37Z</dcterms:modified>
</cp:coreProperties>
</file>